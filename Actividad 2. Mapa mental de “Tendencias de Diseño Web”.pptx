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A9E5"/>
    <a:srgbClr val="FF33CC"/>
    <a:srgbClr val="FBABF1"/>
    <a:srgbClr val="A9B4DB"/>
    <a:srgbClr val="8D6E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1:13:23.687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1:14:00.921"/>
    </inkml:context>
    <inkml:brush xml:id="br0">
      <inkml:brushProperty name="width" value="0.035" units="cm"/>
      <inkml:brushProperty name="height" value="0.035" units="cm"/>
      <inkml:brushProperty name="color" value="#EEB3A6"/>
      <inkml:brushProperty name="inkEffects" value="rosegold"/>
      <inkml:brushProperty name="anchorX" value="-5054.63037"/>
      <inkml:brushProperty name="anchorY" value="846.82495"/>
      <inkml:brushProperty name="scaleFactor" value="0.5"/>
    </inkml:brush>
  </inkml:definitions>
  <inkml:trace contextRef="#ctx0" brushRef="#br0">0 1 24575,'0'0'0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0ADA04-0EE8-8D02-3F2B-E9508BB63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EA0F513-68E6-F79C-396B-258FDD86DB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700AA5F-C834-F4F1-138C-E1F3FAE26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C072-874A-48F0-BA25-A82898D3A012}" type="datetimeFigureOut">
              <a:rPr lang="es-MX" smtClean="0"/>
              <a:t>03/03/2026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33ED435-0384-A654-5496-4819C2EEC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94B6392-209E-A6D5-17B1-BBD508A30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5601C-9563-4570-A021-5DF084672A4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44345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A46D05-8F1F-9885-DFAF-BDBE21DF2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FDB3E40-A322-BF69-60FC-A292FCA3DA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888CD1D-2CEF-74B6-2AE1-18B047562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C072-874A-48F0-BA25-A82898D3A012}" type="datetimeFigureOut">
              <a:rPr lang="es-MX" smtClean="0"/>
              <a:t>03/03/2026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A1E7DC1-F552-E0C2-9893-4B63569FB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29E348C-270B-54BA-EEE9-F63ACF4CF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5601C-9563-4570-A021-5DF084672A4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70954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2BBF29-A633-6CA7-EB2B-3D8F4CFC9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B596D6A-927E-DAA3-B4AB-A9BBB4E343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AFE8DD5-D59C-6552-8AA1-43AC27630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C072-874A-48F0-BA25-A82898D3A012}" type="datetimeFigureOut">
              <a:rPr lang="es-MX" smtClean="0"/>
              <a:t>03/03/2026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E3D8E6B-CDDD-1F20-2274-2B96194BE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497B07F-1873-CF04-5E2C-B1D012BA6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5601C-9563-4570-A021-5DF084672A4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96462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6CD124-31D9-6FAB-8786-59FA1D661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F1EF3A-0538-6D6C-5C94-44DA28276E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691A383-7ECA-9B55-414F-76D706B875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72690F2-80C0-9DEC-5BE4-1864EA83D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C072-874A-48F0-BA25-A82898D3A012}" type="datetimeFigureOut">
              <a:rPr lang="es-MX" smtClean="0"/>
              <a:t>03/03/2026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13DE327-A198-1467-7FD6-A9A85F6E1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A1DE44A-492F-B8B2-B5EB-B964AC5A9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5601C-9563-4570-A021-5DF084672A4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54464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B2AF98-2251-7D71-F49E-0EE2ED301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6EA4C4B-7A45-CEBB-BB97-B78C9D0B83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49D8632-6ADE-DCD3-DE77-C9E15B95E7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83F9C0F-7159-73DD-EF32-222F7F57ED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2D15388-CD46-5566-FF3D-F933D0F4B4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CCC747F-50A2-F0A2-4257-83D30189E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C072-874A-48F0-BA25-A82898D3A012}" type="datetimeFigureOut">
              <a:rPr lang="es-MX" smtClean="0"/>
              <a:t>03/03/2026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E5E8487-763F-AE93-DDB0-3E4ABDBFF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971EACE-B20A-5BDA-C545-2EA300FD9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5601C-9563-4570-A021-5DF084672A4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09687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B5304C-3E1F-CBF6-5F1E-5E1EC5194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B912703-4E8E-85D1-5348-428D17345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C072-874A-48F0-BA25-A82898D3A012}" type="datetimeFigureOut">
              <a:rPr lang="es-MX" smtClean="0"/>
              <a:t>03/03/2026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2F5DDAE-3F7C-28B7-A485-CE8CA58AD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59FA533-9CBC-6191-7A89-20DA97D02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5601C-9563-4570-A021-5DF084672A4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86541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192D47E-B841-0E86-610F-B5C6B7C41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C072-874A-48F0-BA25-A82898D3A012}" type="datetimeFigureOut">
              <a:rPr lang="es-MX" smtClean="0"/>
              <a:t>03/03/2026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3ACAE84-885C-F5E3-3284-71AED68D3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D020BF6-6372-FE40-8B1C-307B6DECA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5601C-9563-4570-A021-5DF084672A4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5286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C4C7C3-2A63-20BE-43E6-E0BBF6D18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6AA94FF-219A-37E4-D596-3542E544BC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A2E6954-3B3A-6238-C8C7-1A630DF306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B61D520-E6D2-BCDA-2E3F-17B23FCB6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C072-874A-48F0-BA25-A82898D3A012}" type="datetimeFigureOut">
              <a:rPr lang="es-MX" smtClean="0"/>
              <a:t>03/03/2026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06AE1ED-DD8C-0949-3FF3-69A1511B2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1BC0051-C5AF-085A-FB71-0347C39CB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5601C-9563-4570-A021-5DF084672A4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80807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C56750-7539-00CF-6DA9-D5313010A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F6B5743-69F4-46BA-5A7A-1A10B04DB9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47FCDA0-75BA-1A07-EBFA-79577FADA6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4756784-59F3-33FE-E848-DFE607E9E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C072-874A-48F0-BA25-A82898D3A012}" type="datetimeFigureOut">
              <a:rPr lang="es-MX" smtClean="0"/>
              <a:t>03/03/2026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B381021-DED4-8D92-8DDF-97F7EF702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7194482-F1CF-2307-730E-9D80D7A11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5601C-9563-4570-A021-5DF084672A4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30913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6E6DB9-23D8-B7AD-5C68-920E210C0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B2BFAFB-446D-E7A7-4657-D90A53EF74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5A9110C-8DAE-C182-A1E2-C0A9090F9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C072-874A-48F0-BA25-A82898D3A012}" type="datetimeFigureOut">
              <a:rPr lang="es-MX" smtClean="0"/>
              <a:t>03/03/2026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93CD3BB-CCEA-6B77-9BB6-37D13B7F6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AB19AC6-25E0-0529-272E-73C1E030B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5601C-9563-4570-A021-5DF084672A4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96755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1E23FD9-D83D-1F30-A197-E92E7B846D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B613060-E561-6D43-2DD0-24E3014EE2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AA0EADA-F70E-E051-93E6-42FB8DBAF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C072-874A-48F0-BA25-A82898D3A012}" type="datetimeFigureOut">
              <a:rPr lang="es-MX" smtClean="0"/>
              <a:t>03/03/2026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E7A5135-50FC-BF44-9769-FE6A5D2BF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782542D-6AB6-AC11-3129-D6A155CF8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5601C-9563-4570-A021-5DF084672A4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40851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3598B2A-AAD4-7BA0-5F33-76626845E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7A400A5-7A87-CC28-B871-075430E93F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C0D6DE-A4C7-5729-30DA-8FC2EDCC85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27C072-874A-48F0-BA25-A82898D3A012}" type="datetimeFigureOut">
              <a:rPr lang="es-MX" smtClean="0"/>
              <a:t>03/03/2026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8313C57-98B5-22AD-FDED-07848DDE09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AA1F688-4753-C3C9-FF6E-74E590079D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E5601C-9563-4570-A021-5DF084672A4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73861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12" Type="http://schemas.microsoft.com/office/2007/relationships/hdphoto" Target="../media/hdphoto2.wdp"/><Relationship Id="rId17" Type="http://schemas.openxmlformats.org/officeDocument/2006/relationships/image" Target="../media/image13.png"/><Relationship Id="rId2" Type="http://schemas.openxmlformats.org/officeDocument/2006/relationships/customXml" Target="../ink/ink1.xml"/><Relationship Id="rId16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8.png"/><Relationship Id="rId5" Type="http://schemas.openxmlformats.org/officeDocument/2006/relationships/image" Target="../media/image3.png"/><Relationship Id="rId15" Type="http://schemas.openxmlformats.org/officeDocument/2006/relationships/image" Target="../media/image11.png"/><Relationship Id="rId10" Type="http://schemas.openxmlformats.org/officeDocument/2006/relationships/image" Target="../media/image7.png"/><Relationship Id="rId4" Type="http://schemas.openxmlformats.org/officeDocument/2006/relationships/customXml" Target="../ink/ink2.xml"/><Relationship Id="rId9" Type="http://schemas.openxmlformats.org/officeDocument/2006/relationships/image" Target="../media/image6.png"/><Relationship Id="rId1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3000">
              <a:srgbClr val="FDA9E5"/>
            </a:gs>
            <a:gs pos="13000">
              <a:schemeClr val="bg1">
                <a:lumMod val="9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215076-ECFA-AD20-0192-9693DFC8CD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62339" y="2777052"/>
            <a:ext cx="3207192" cy="999158"/>
          </a:xfrm>
          <a:noFill/>
        </p:spPr>
        <p:txBody>
          <a:bodyPr>
            <a:normAutofit fontScale="90000"/>
          </a:bodyPr>
          <a:lstStyle/>
          <a:p>
            <a:r>
              <a:rPr lang="es-MX" sz="2800" b="1" dirty="0">
                <a:ln w="9525">
                  <a:solidFill>
                    <a:srgbClr val="FF33CC"/>
                  </a:solidFill>
                  <a:prstDash val="solid"/>
                </a:ln>
                <a:solidFill>
                  <a:srgbClr val="FF33CC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askerville Old Face" panose="02020602080505020303" pitchFamily="18" charset="0"/>
              </a:rPr>
              <a:t>TENDENCIAS DE DISEÑO WEB</a:t>
            </a:r>
            <a:br>
              <a:rPr lang="es-MX" sz="2800" b="1" dirty="0">
                <a:ln w="9525">
                  <a:solidFill>
                    <a:srgbClr val="FF33CC"/>
                  </a:solidFill>
                  <a:prstDash val="solid"/>
                </a:ln>
                <a:solidFill>
                  <a:srgbClr val="FF33CC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askerville Old Face" panose="02020602080505020303" pitchFamily="18" charset="0"/>
              </a:rPr>
            </a:br>
            <a:r>
              <a:rPr lang="es-MX" sz="2800" b="1" dirty="0">
                <a:ln w="9525">
                  <a:solidFill>
                    <a:srgbClr val="FF33CC"/>
                  </a:solidFill>
                  <a:prstDash val="solid"/>
                </a:ln>
                <a:solidFill>
                  <a:srgbClr val="FF33CC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askerville Old Face" panose="02020602080505020303" pitchFamily="18" charset="0"/>
              </a:rPr>
              <a:t>2026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41626D83-3C53-A0E8-4E69-EF7DA3998852}"/>
                  </a:ext>
                </a:extLst>
              </p14:cNvPr>
              <p14:cNvContentPartPr/>
              <p14:nvPr/>
            </p14:nvContentPartPr>
            <p14:xfrm>
              <a:off x="-305040" y="313511"/>
              <a:ext cx="360" cy="360"/>
            </p14:xfrm>
          </p:contentPart>
        </mc:Choice>
        <mc:Fallback xmlns=""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41626D83-3C53-A0E8-4E69-EF7DA399885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311160" y="307391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">
            <p14:nvContentPartPr>
              <p14:cNvPr id="10" name="Entrada de lápiz 9">
                <a:extLst>
                  <a:ext uri="{FF2B5EF4-FFF2-40B4-BE49-F238E27FC236}">
                    <a16:creationId xmlns:a16="http://schemas.microsoft.com/office/drawing/2014/main" id="{E17E6520-840C-F11A-51DE-84CA292CD4A0}"/>
                  </a:ext>
                </a:extLst>
              </p14:cNvPr>
              <p14:cNvContentPartPr/>
              <p14:nvPr/>
            </p14:nvContentPartPr>
            <p14:xfrm>
              <a:off x="-887520" y="1541831"/>
              <a:ext cx="360" cy="360"/>
            </p14:xfrm>
          </p:contentPart>
        </mc:Choice>
        <mc:Fallback xmlns="">
          <p:pic>
            <p:nvPicPr>
              <p:cNvPr id="10" name="Entrada de lápiz 9">
                <a:extLst>
                  <a:ext uri="{FF2B5EF4-FFF2-40B4-BE49-F238E27FC236}">
                    <a16:creationId xmlns:a16="http://schemas.microsoft.com/office/drawing/2014/main" id="{E17E6520-840C-F11A-51DE-84CA292CD4A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893640" y="1535711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16" name="Imagen 15">
            <a:extLst>
              <a:ext uri="{FF2B5EF4-FFF2-40B4-BE49-F238E27FC236}">
                <a16:creationId xmlns:a16="http://schemas.microsoft.com/office/drawing/2014/main" id="{336F408C-2EEF-C4F2-6531-A91C5396BC3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8135300" flipV="1">
            <a:off x="7135097" y="1612404"/>
            <a:ext cx="1894624" cy="715661"/>
          </a:xfrm>
          <a:prstGeom prst="rect">
            <a:avLst/>
          </a:prstGeom>
          <a:effectLst>
            <a:glow rad="101600">
              <a:srgbClr val="FDA9E5">
                <a:alpha val="60000"/>
              </a:srgbClr>
            </a:glow>
          </a:effectLst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8224855E-C7BB-7CCC-6723-EB2917E6CEB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544395" flipV="1">
            <a:off x="6670039" y="4067619"/>
            <a:ext cx="1685206" cy="754861"/>
          </a:xfrm>
          <a:prstGeom prst="rect">
            <a:avLst/>
          </a:prstGeom>
          <a:effectLst>
            <a:glow rad="101600">
              <a:srgbClr val="FF33CC">
                <a:alpha val="60000"/>
              </a:srgbClr>
            </a:glow>
          </a:effec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950C9449-849A-7368-49FB-DED1424BC4E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3592270" flipH="1" flipV="1">
            <a:off x="2451785" y="1496438"/>
            <a:ext cx="1771349" cy="757712"/>
          </a:xfrm>
          <a:prstGeom prst="rect">
            <a:avLst/>
          </a:prstGeom>
          <a:effectLst>
            <a:glow rad="101600">
              <a:srgbClr val="FDA9E5">
                <a:alpha val="60000"/>
              </a:srgbClr>
            </a:glow>
          </a:effectLst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830BEBCC-3AED-A634-09CD-25856F65F2C7}"/>
              </a:ext>
            </a:extLst>
          </p:cNvPr>
          <p:cNvSpPr txBox="1"/>
          <p:nvPr/>
        </p:nvSpPr>
        <p:spPr>
          <a:xfrm>
            <a:off x="8376973" y="412430"/>
            <a:ext cx="285077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1200" dirty="0"/>
              <a:t>Son estilos, enfoques y prácticas visuales o funcionales que se vuelven populares en la creación de sitios web durante un período determinado.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6A503884-646A-B244-372F-6312B4905887}"/>
              </a:ext>
            </a:extLst>
          </p:cNvPr>
          <p:cNvSpPr txBox="1"/>
          <p:nvPr/>
        </p:nvSpPr>
        <p:spPr>
          <a:xfrm>
            <a:off x="837183" y="198699"/>
            <a:ext cx="29248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1200" dirty="0"/>
              <a:t>Aunque las tendencias cambien, seguirán centrándose en los fundamentos de lo que es el diseño web: usabilidad, creatividad y una marca sólida.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36442B62-3168-8A1A-5DC7-5F076E438FB8}"/>
              </a:ext>
            </a:extLst>
          </p:cNvPr>
          <p:cNvSpPr txBox="1"/>
          <p:nvPr/>
        </p:nvSpPr>
        <p:spPr>
          <a:xfrm>
            <a:off x="5087127" y="249397"/>
            <a:ext cx="25033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1200" dirty="0"/>
              <a:t>Hay cerca de dos mil millones de páginas web en el mundo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92EC291C-0D0F-A951-49F6-11348B9AC5A0}"/>
              </a:ext>
            </a:extLst>
          </p:cNvPr>
          <p:cNvSpPr txBox="1"/>
          <p:nvPr/>
        </p:nvSpPr>
        <p:spPr>
          <a:xfrm>
            <a:off x="9163424" y="2690652"/>
            <a:ext cx="24484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200" dirty="0"/>
              <a:t>Para diseñar los estándares de la web, surge la W3C (</a:t>
            </a:r>
            <a:r>
              <a:rPr lang="es-MX" sz="1200" b="1" dirty="0" err="1"/>
              <a:t>World</a:t>
            </a:r>
            <a:r>
              <a:rPr lang="es-MX" sz="1200" b="1" dirty="0"/>
              <a:t> Wide Web</a:t>
            </a:r>
          </a:p>
          <a:p>
            <a:r>
              <a:rPr lang="es-MX" sz="1200" b="1" dirty="0" err="1"/>
              <a:t>Consortium</a:t>
            </a:r>
            <a:r>
              <a:rPr lang="es-MX" sz="1200" dirty="0"/>
              <a:t>), es un consorcio internacional de organizaciones vinculadas a las tecnologías 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20C7113F-716A-A0FA-FE01-05A478D53C2F}"/>
              </a:ext>
            </a:extLst>
          </p:cNvPr>
          <p:cNvSpPr txBox="1"/>
          <p:nvPr/>
        </p:nvSpPr>
        <p:spPr>
          <a:xfrm>
            <a:off x="8147632" y="4528004"/>
            <a:ext cx="193327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200" dirty="0"/>
              <a:t>XHTML y CSS, son los estándares más utilizados en la actualidad para el diseño</a:t>
            </a:r>
          </a:p>
          <a:p>
            <a:r>
              <a:rPr lang="es-MX" sz="1200" dirty="0"/>
              <a:t>web. </a:t>
            </a:r>
          </a:p>
        </p:txBody>
      </p:sp>
      <p:pic>
        <p:nvPicPr>
          <p:cNvPr id="37" name="Imagen 36">
            <a:extLst>
              <a:ext uri="{FF2B5EF4-FFF2-40B4-BE49-F238E27FC236}">
                <a16:creationId xmlns:a16="http://schemas.microsoft.com/office/drawing/2014/main" id="{9C09345A-CAEB-F70F-BD4E-73BA9FC4562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1066212" flipH="1" flipV="1">
            <a:off x="4915211" y="4759522"/>
            <a:ext cx="2612717" cy="1715203"/>
          </a:xfrm>
          <a:prstGeom prst="rect">
            <a:avLst/>
          </a:prstGeom>
          <a:ln>
            <a:solidFill>
              <a:srgbClr val="FDA9E5"/>
            </a:solidFill>
          </a:ln>
          <a:effectLst>
            <a:softEdge rad="317500"/>
          </a:effectLst>
        </p:spPr>
      </p:pic>
      <p:pic>
        <p:nvPicPr>
          <p:cNvPr id="38" name="Imagen 37">
            <a:extLst>
              <a:ext uri="{FF2B5EF4-FFF2-40B4-BE49-F238E27FC236}">
                <a16:creationId xmlns:a16="http://schemas.microsoft.com/office/drawing/2014/main" id="{D6305A13-A33B-81A0-FED1-D0F91315C97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78397" y="1145216"/>
            <a:ext cx="2102495" cy="1292329"/>
          </a:xfrm>
          <a:prstGeom prst="rect">
            <a:avLst/>
          </a:prstGeom>
          <a:effectLst>
            <a:softEdge rad="317500"/>
          </a:effectLst>
        </p:spPr>
      </p:pic>
      <p:pic>
        <p:nvPicPr>
          <p:cNvPr id="39" name="Imagen 38">
            <a:extLst>
              <a:ext uri="{FF2B5EF4-FFF2-40B4-BE49-F238E27FC236}">
                <a16:creationId xmlns:a16="http://schemas.microsoft.com/office/drawing/2014/main" id="{25267ADE-AC3A-94D0-2A26-C9E00168326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10000" r="90000">
                        <a14:foregroundMark x1="25977" y1="27000" x2="21289" y2="30000"/>
                        <a14:foregroundMark x1="21289" y1="30000" x2="12598" y2="45000"/>
                        <a14:foregroundMark x1="12598" y1="45000" x2="13867" y2="68800"/>
                        <a14:foregroundMark x1="13867" y1="68800" x2="20605" y2="79400"/>
                        <a14:foregroundMark x1="20605" y1="79400" x2="28906" y2="80800"/>
                        <a14:foregroundMark x1="28906" y1="80800" x2="36426" y2="71800"/>
                        <a14:foregroundMark x1="36426" y1="71800" x2="37402" y2="50200"/>
                        <a14:foregroundMark x1="37402" y1="50200" x2="31641" y2="32200"/>
                        <a14:foregroundMark x1="31641" y1="32200" x2="27246" y2="29800"/>
                        <a14:foregroundMark x1="29102" y1="30000" x2="23926" y2="30000"/>
                        <a14:foregroundMark x1="23926" y1="30000" x2="17578" y2="48000"/>
                        <a14:foregroundMark x1="17578" y1="48000" x2="15234" y2="52000"/>
                        <a14:foregroundMark x1="25977" y1="49800" x2="23047" y2="68600"/>
                        <a14:foregroundMark x1="64160" y1="28200" x2="73145" y2="29600"/>
                        <a14:foregroundMark x1="73145" y1="29600" x2="82715" y2="37600"/>
                        <a14:foregroundMark x1="82715" y1="37600" x2="85156" y2="53800"/>
                        <a14:foregroundMark x1="85156" y1="53800" x2="83789" y2="79400"/>
                        <a14:foregroundMark x1="83789" y1="79400" x2="74805" y2="80800"/>
                        <a14:foregroundMark x1="74805" y1="80800" x2="67871" y2="73800"/>
                        <a14:foregroundMark x1="67871" y1="73800" x2="64941" y2="59400"/>
                        <a14:foregroundMark x1="64941" y1="59400" x2="64063" y2="342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63452" y="5190235"/>
            <a:ext cx="3783994" cy="1847653"/>
          </a:xfrm>
          <a:prstGeom prst="rect">
            <a:avLst/>
          </a:prstGeom>
        </p:spPr>
      </p:pic>
      <p:pic>
        <p:nvPicPr>
          <p:cNvPr id="40" name="Imagen 39">
            <a:extLst>
              <a:ext uri="{FF2B5EF4-FFF2-40B4-BE49-F238E27FC236}">
                <a16:creationId xmlns:a16="http://schemas.microsoft.com/office/drawing/2014/main" id="{434BC5F2-1BD0-AFB5-4EE4-9BE75333EFF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27639" y="3950272"/>
            <a:ext cx="2334639" cy="1459149"/>
          </a:xfrm>
          <a:prstGeom prst="rect">
            <a:avLst/>
          </a:prstGeom>
        </p:spPr>
      </p:pic>
      <p:pic>
        <p:nvPicPr>
          <p:cNvPr id="42" name="Imagen 41">
            <a:extLst>
              <a:ext uri="{FF2B5EF4-FFF2-40B4-BE49-F238E27FC236}">
                <a16:creationId xmlns:a16="http://schemas.microsoft.com/office/drawing/2014/main" id="{807783F8-C21D-9BED-8975-AD90FF407E1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054685" y="555605"/>
            <a:ext cx="3535031" cy="1751734"/>
          </a:xfrm>
          <a:prstGeom prst="rect">
            <a:avLst/>
          </a:prstGeom>
          <a:effectLst>
            <a:softEdge rad="635000"/>
          </a:effectLst>
        </p:spPr>
      </p:pic>
      <p:cxnSp>
        <p:nvCxnSpPr>
          <p:cNvPr id="18" name="Conector: curvado 17">
            <a:extLst>
              <a:ext uri="{FF2B5EF4-FFF2-40B4-BE49-F238E27FC236}">
                <a16:creationId xmlns:a16="http://schemas.microsoft.com/office/drawing/2014/main" id="{09D7FDA5-FBA2-5C2E-104B-252B1C2F2095}"/>
              </a:ext>
            </a:extLst>
          </p:cNvPr>
          <p:cNvCxnSpPr>
            <a:cxnSpLocks/>
          </p:cNvCxnSpPr>
          <p:nvPr/>
        </p:nvCxnSpPr>
        <p:spPr>
          <a:xfrm rot="16200000" flipV="1">
            <a:off x="5801686" y="1330882"/>
            <a:ext cx="1810470" cy="518923"/>
          </a:xfrm>
          <a:prstGeom prst="curvedConnector3">
            <a:avLst/>
          </a:prstGeom>
          <a:ln w="57150">
            <a:solidFill>
              <a:srgbClr val="FDA9E5"/>
            </a:solidFill>
            <a:tailEnd type="triangle"/>
          </a:ln>
          <a:effectLst>
            <a:glow rad="101600">
              <a:srgbClr val="FF33CC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: curvado 29">
            <a:extLst>
              <a:ext uri="{FF2B5EF4-FFF2-40B4-BE49-F238E27FC236}">
                <a16:creationId xmlns:a16="http://schemas.microsoft.com/office/drawing/2014/main" id="{ABD375DC-A386-4F8E-8BE7-D6226BC8C701}"/>
              </a:ext>
            </a:extLst>
          </p:cNvPr>
          <p:cNvCxnSpPr>
            <a:cxnSpLocks/>
          </p:cNvCxnSpPr>
          <p:nvPr/>
        </p:nvCxnSpPr>
        <p:spPr>
          <a:xfrm>
            <a:off x="7590522" y="2743181"/>
            <a:ext cx="1572902" cy="621244"/>
          </a:xfrm>
          <a:prstGeom prst="curvedConnector3">
            <a:avLst/>
          </a:prstGeom>
          <a:ln w="76200">
            <a:solidFill>
              <a:srgbClr val="FDA9E5"/>
            </a:solidFill>
            <a:tailEnd type="triangle"/>
          </a:ln>
          <a:effectLst>
            <a:glow rad="101600">
              <a:srgbClr val="FDA9E5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: curvado 31">
            <a:extLst>
              <a:ext uri="{FF2B5EF4-FFF2-40B4-BE49-F238E27FC236}">
                <a16:creationId xmlns:a16="http://schemas.microsoft.com/office/drawing/2014/main" id="{9406C5A6-F1E7-FD40-320E-3F5AFCA026B9}"/>
              </a:ext>
            </a:extLst>
          </p:cNvPr>
          <p:cNvCxnSpPr>
            <a:cxnSpLocks/>
          </p:cNvCxnSpPr>
          <p:nvPr/>
        </p:nvCxnSpPr>
        <p:spPr>
          <a:xfrm rot="5400000">
            <a:off x="1088047" y="1281407"/>
            <a:ext cx="946987" cy="520846"/>
          </a:xfrm>
          <a:prstGeom prst="curvedConnector3">
            <a:avLst>
              <a:gd name="adj1" fmla="val 50000"/>
            </a:avLst>
          </a:prstGeom>
          <a:ln w="38100">
            <a:solidFill>
              <a:srgbClr val="FDA9E5"/>
            </a:solidFill>
            <a:tailEnd type="triangle"/>
          </a:ln>
          <a:effectLst>
            <a:glow rad="101600">
              <a:srgbClr val="FF33CC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Diagrama de flujo: proceso alternativo 59">
            <a:extLst>
              <a:ext uri="{FF2B5EF4-FFF2-40B4-BE49-F238E27FC236}">
                <a16:creationId xmlns:a16="http://schemas.microsoft.com/office/drawing/2014/main" id="{3244FD56-6006-44A9-D91F-88671361DB47}"/>
              </a:ext>
            </a:extLst>
          </p:cNvPr>
          <p:cNvSpPr/>
          <p:nvPr/>
        </p:nvSpPr>
        <p:spPr>
          <a:xfrm>
            <a:off x="3714699" y="2435569"/>
            <a:ext cx="3893255" cy="1337496"/>
          </a:xfrm>
          <a:prstGeom prst="flowChartAlternateProcess">
            <a:avLst/>
          </a:prstGeom>
          <a:noFill/>
          <a:ln>
            <a:solidFill>
              <a:srgbClr val="FF33CC"/>
            </a:solidFill>
          </a:ln>
          <a:effectLst>
            <a:glow rad="101600">
              <a:srgbClr val="FDA9E5">
                <a:alpha val="6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>
              <a:ln>
                <a:solidFill>
                  <a:srgbClr val="FDA9E5"/>
                </a:solidFill>
              </a:ln>
              <a:noFill/>
            </a:endParaRPr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371965BE-912B-87F6-116F-0C9F765173BC}"/>
              </a:ext>
            </a:extLst>
          </p:cNvPr>
          <p:cNvSpPr txBox="1"/>
          <p:nvPr/>
        </p:nvSpPr>
        <p:spPr>
          <a:xfrm>
            <a:off x="1822784" y="4222632"/>
            <a:ext cx="11262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TIPOS</a:t>
            </a:r>
          </a:p>
        </p:txBody>
      </p:sp>
      <p:pic>
        <p:nvPicPr>
          <p:cNvPr id="67" name="Imagen 66">
            <a:extLst>
              <a:ext uri="{FF2B5EF4-FFF2-40B4-BE49-F238E27FC236}">
                <a16:creationId xmlns:a16="http://schemas.microsoft.com/office/drawing/2014/main" id="{D4404904-1CD5-9D8C-7EC9-F3DDB1ECCE9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26287" y="2262617"/>
            <a:ext cx="2603216" cy="129342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68" name="CuadroTexto 67">
            <a:extLst>
              <a:ext uri="{FF2B5EF4-FFF2-40B4-BE49-F238E27FC236}">
                <a16:creationId xmlns:a16="http://schemas.microsoft.com/office/drawing/2014/main" id="{B5D69425-A016-1994-5598-9F65249A91DC}"/>
              </a:ext>
            </a:extLst>
          </p:cNvPr>
          <p:cNvSpPr txBox="1"/>
          <p:nvPr/>
        </p:nvSpPr>
        <p:spPr>
          <a:xfrm>
            <a:off x="117429" y="4932744"/>
            <a:ext cx="2361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i="1" dirty="0">
                <a:solidFill>
                  <a:srgbClr val="FF33CC"/>
                </a:solidFill>
                <a:effectLst>
                  <a:glow rad="139700">
                    <a:srgbClr val="FF33CC">
                      <a:alpha val="40000"/>
                    </a:srgb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ESTATICO </a:t>
            </a:r>
          </a:p>
        </p:txBody>
      </p:sp>
      <p:sp>
        <p:nvSpPr>
          <p:cNvPr id="83" name="Rectangle 7">
            <a:extLst>
              <a:ext uri="{FF2B5EF4-FFF2-40B4-BE49-F238E27FC236}">
                <a16:creationId xmlns:a16="http://schemas.microsoft.com/office/drawing/2014/main" id="{DDDDB6F7-8674-E3EC-96DB-7B883DD285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43" y="5190235"/>
            <a:ext cx="1526966" cy="10618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Contenido fijo.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cambia a menos que el desarrollador modifique el código.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Ideal para sitios informativos simples</a:t>
            </a:r>
          </a:p>
        </p:txBody>
      </p:sp>
      <p:sp>
        <p:nvSpPr>
          <p:cNvPr id="84" name="CuadroTexto 83">
            <a:extLst>
              <a:ext uri="{FF2B5EF4-FFF2-40B4-BE49-F238E27FC236}">
                <a16:creationId xmlns:a16="http://schemas.microsoft.com/office/drawing/2014/main" id="{E597E5A0-745B-21C0-DB8D-6D0C8D9203D3}"/>
              </a:ext>
            </a:extLst>
          </p:cNvPr>
          <p:cNvSpPr txBox="1"/>
          <p:nvPr/>
        </p:nvSpPr>
        <p:spPr>
          <a:xfrm>
            <a:off x="1699836" y="4932744"/>
            <a:ext cx="1283207" cy="369332"/>
          </a:xfrm>
          <a:prstGeom prst="rect">
            <a:avLst/>
          </a:prstGeom>
          <a:noFill/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es-MX" b="1" i="1" dirty="0">
                <a:solidFill>
                  <a:srgbClr val="FF33CC"/>
                </a:solidFill>
                <a:effectLst>
                  <a:glow rad="139700">
                    <a:srgbClr val="FF33CC">
                      <a:alpha val="40000"/>
                    </a:srgb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DINAMICO</a:t>
            </a:r>
          </a:p>
        </p:txBody>
      </p:sp>
      <p:sp>
        <p:nvSpPr>
          <p:cNvPr id="86" name="Rectangle 8">
            <a:extLst>
              <a:ext uri="{FF2B5EF4-FFF2-40B4-BE49-F238E27FC236}">
                <a16:creationId xmlns:a16="http://schemas.microsoft.com/office/drawing/2014/main" id="{6C503EAF-6363-4070-F10B-58C386574D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9489" y="5208426"/>
            <a:ext cx="1628213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Contenido que cambia automáticamente.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Usa bases de datos y lenguajes como PHP o JavaScript.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Permite interacción con el usuario.</a:t>
            </a:r>
          </a:p>
        </p:txBody>
      </p:sp>
      <p:sp>
        <p:nvSpPr>
          <p:cNvPr id="88" name="CuadroTexto 87">
            <a:extLst>
              <a:ext uri="{FF2B5EF4-FFF2-40B4-BE49-F238E27FC236}">
                <a16:creationId xmlns:a16="http://schemas.microsoft.com/office/drawing/2014/main" id="{8302F5AD-07FA-FA83-D374-FCBFFCECDB96}"/>
              </a:ext>
            </a:extLst>
          </p:cNvPr>
          <p:cNvSpPr txBox="1"/>
          <p:nvPr/>
        </p:nvSpPr>
        <p:spPr>
          <a:xfrm>
            <a:off x="3278194" y="4960325"/>
            <a:ext cx="3455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i="1" dirty="0">
                <a:solidFill>
                  <a:srgbClr val="FDA9E5"/>
                </a:solidFill>
                <a:effectLst>
                  <a:glow rad="127000">
                    <a:srgbClr val="FF33CC"/>
                  </a:glow>
                </a:effectLst>
              </a:rPr>
              <a:t>MINIMALISTA</a:t>
            </a:r>
          </a:p>
        </p:txBody>
      </p:sp>
      <p:sp>
        <p:nvSpPr>
          <p:cNvPr id="90" name="Rectangle 9">
            <a:extLst>
              <a:ext uri="{FF2B5EF4-FFF2-40B4-BE49-F238E27FC236}">
                <a16:creationId xmlns:a16="http://schemas.microsoft.com/office/drawing/2014/main" id="{4450709B-B86F-19C1-838B-8108D91464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6744" y="5320410"/>
            <a:ext cx="1563506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Uso reducido de colores, tipografías y elementos.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Prioriza la claridad y simplicidad.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Muy usado en marcas moderna</a:t>
            </a:r>
          </a:p>
        </p:txBody>
      </p:sp>
      <p:cxnSp>
        <p:nvCxnSpPr>
          <p:cNvPr id="92" name="Conector: curvado 91">
            <a:extLst>
              <a:ext uri="{FF2B5EF4-FFF2-40B4-BE49-F238E27FC236}">
                <a16:creationId xmlns:a16="http://schemas.microsoft.com/office/drawing/2014/main" id="{42DDB83E-A25C-B75B-F950-2E766F2CE9B6}"/>
              </a:ext>
            </a:extLst>
          </p:cNvPr>
          <p:cNvCxnSpPr>
            <a:endCxn id="84" idx="0"/>
          </p:cNvCxnSpPr>
          <p:nvPr/>
        </p:nvCxnSpPr>
        <p:spPr>
          <a:xfrm rot="10800000" flipV="1">
            <a:off x="2341441" y="3852082"/>
            <a:ext cx="1691399" cy="1080662"/>
          </a:xfrm>
          <a:prstGeom prst="curvedConnector2">
            <a:avLst/>
          </a:prstGeom>
          <a:ln w="57150">
            <a:solidFill>
              <a:srgbClr val="FBABF1"/>
            </a:solidFill>
            <a:tailEnd type="triangle"/>
          </a:ln>
          <a:effectLst>
            <a:glow rad="101600">
              <a:srgbClr val="FF33CC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ector: curvado 93">
            <a:extLst>
              <a:ext uri="{FF2B5EF4-FFF2-40B4-BE49-F238E27FC236}">
                <a16:creationId xmlns:a16="http://schemas.microsoft.com/office/drawing/2014/main" id="{7488D76C-19D6-D5F7-71D0-C4B66D9D725A}"/>
              </a:ext>
            </a:extLst>
          </p:cNvPr>
          <p:cNvCxnSpPr>
            <a:cxnSpLocks/>
          </p:cNvCxnSpPr>
          <p:nvPr/>
        </p:nvCxnSpPr>
        <p:spPr>
          <a:xfrm>
            <a:off x="2476904" y="4476067"/>
            <a:ext cx="989460" cy="461355"/>
          </a:xfrm>
          <a:prstGeom prst="curvedConnector3">
            <a:avLst>
              <a:gd name="adj1" fmla="val 50000"/>
            </a:avLst>
          </a:prstGeom>
          <a:ln w="28575">
            <a:solidFill>
              <a:srgbClr val="FBABF1"/>
            </a:solidFill>
            <a:tailEnd type="triangle"/>
          </a:ln>
          <a:effectLst>
            <a:glow rad="101600">
              <a:srgbClr val="FF33CC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7" name="Imagen 96">
            <a:extLst>
              <a:ext uri="{FF2B5EF4-FFF2-40B4-BE49-F238E27FC236}">
                <a16:creationId xmlns:a16="http://schemas.microsoft.com/office/drawing/2014/main" id="{16EB1001-6E43-2C03-D5B1-5303F2C129D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3306729">
            <a:off x="1079055" y="3718181"/>
            <a:ext cx="928789" cy="2051076"/>
          </a:xfrm>
          <a:prstGeom prst="rect">
            <a:avLst/>
          </a:prstGeom>
        </p:spPr>
      </p:pic>
      <p:sp>
        <p:nvSpPr>
          <p:cNvPr id="101" name="CuadroTexto 100">
            <a:extLst>
              <a:ext uri="{FF2B5EF4-FFF2-40B4-BE49-F238E27FC236}">
                <a16:creationId xmlns:a16="http://schemas.microsoft.com/office/drawing/2014/main" id="{186ABD0A-6FC8-7F09-B3C0-CD826A02306C}"/>
              </a:ext>
            </a:extLst>
          </p:cNvPr>
          <p:cNvSpPr txBox="1"/>
          <p:nvPr/>
        </p:nvSpPr>
        <p:spPr>
          <a:xfrm>
            <a:off x="2302411" y="3518304"/>
            <a:ext cx="9333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0" dirty="0">
                <a:solidFill>
                  <a:srgbClr val="FF33CC"/>
                </a:solidFill>
              </a:rPr>
              <a:t>.</a:t>
            </a:r>
          </a:p>
        </p:txBody>
      </p:sp>
      <p:pic>
        <p:nvPicPr>
          <p:cNvPr id="103" name="Imagen 102">
            <a:extLst>
              <a:ext uri="{FF2B5EF4-FFF2-40B4-BE49-F238E27FC236}">
                <a16:creationId xmlns:a16="http://schemas.microsoft.com/office/drawing/2014/main" id="{99DBBF35-24D8-892F-6980-5C1411D4195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16610011">
            <a:off x="7642079" y="175829"/>
            <a:ext cx="813712" cy="1200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2941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xtura grung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67000"/>
                <a:shade val="65000"/>
              </a:schemeClr>
              <a:schemeClr val="phClr">
                <a:tint val="10000"/>
                <a:satMod val="130000"/>
              </a:schemeClr>
            </a:duotone>
          </a:blip>
          <a:tile tx="0" ty="0" sx="60000" sy="59000" flip="none" algn="b"/>
        </a:blipFill>
        <a:blipFill rotWithShape="1">
          <a:blip xmlns:r="http://schemas.openxmlformats.org/officeDocument/2006/relationships" r:embed="rId1">
            <a:duotone>
              <a:schemeClr val="phClr">
                <a:shade val="30000"/>
                <a:satMod val="115000"/>
              </a:schemeClr>
              <a:schemeClr val="phClr">
                <a:tint val="34000"/>
              </a:schemeClr>
            </a:duotone>
          </a:blip>
          <a:tile tx="0" ty="0" sx="60000" sy="59000" flip="none" algn="b"/>
        </a:blipFill>
      </a:fillStyleLst>
      <a:lnStyleLst>
        <a:ln w="6350" cap="flat" cmpd="sng" algn="ctr">
          <a:solidFill>
            <a:schemeClr val="phClr">
              <a:tint val="7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</TotalTime>
  <Words>178</Words>
  <Application>Microsoft Office PowerPoint</Application>
  <PresentationFormat>Panorámica</PresentationFormat>
  <Paragraphs>22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Arial</vt:lpstr>
      <vt:lpstr>Baskerville Old Face</vt:lpstr>
      <vt:lpstr>Calibri</vt:lpstr>
      <vt:lpstr>Calibri Light</vt:lpstr>
      <vt:lpstr>Tema de Office</vt:lpstr>
      <vt:lpstr>TENDENCIAS DE DISEÑO WEB 2026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Usuario</dc:creator>
  <cp:lastModifiedBy>Usuario</cp:lastModifiedBy>
  <cp:revision>6</cp:revision>
  <dcterms:created xsi:type="dcterms:W3CDTF">2026-02-25T00:39:21Z</dcterms:created>
  <dcterms:modified xsi:type="dcterms:W3CDTF">2026-03-04T01:28:10Z</dcterms:modified>
</cp:coreProperties>
</file>